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Agrandir Bold" charset="1" panose="00000800000000000000"/>
      <p:regular r:id="rId14"/>
    </p:embeddedFont>
    <p:embeddedFont>
      <p:font typeface="Agrandir" charset="1" panose="00000500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6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7.jpeg" Type="http://schemas.openxmlformats.org/officeDocument/2006/relationships/image"/><Relationship Id="rId8" Target="../media/image8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svg" Type="http://schemas.openxmlformats.org/officeDocument/2006/relationships/image"/><Relationship Id="rId11" Target="../media/image13.png" Type="http://schemas.openxmlformats.org/officeDocument/2006/relationships/image"/><Relationship Id="rId12" Target="../media/image14.svg" Type="http://schemas.openxmlformats.org/officeDocument/2006/relationships/image"/><Relationship Id="rId2" Target="../media/image1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5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226129" y="2314575"/>
            <a:ext cx="5657850" cy="565785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33450" cap="sq">
              <a:gradFill>
                <a:gsLst>
                  <a:gs pos="0">
                    <a:srgbClr val="036E99">
                      <a:alpha val="63000"/>
                    </a:srgbClr>
                  </a:gs>
                  <a:gs pos="100000">
                    <a:srgbClr val="0078A8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883979" y="2314575"/>
            <a:ext cx="5657850" cy="565785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33450" cap="sq">
              <a:gradFill>
                <a:gsLst>
                  <a:gs pos="0">
                    <a:srgbClr val="0078A8">
                      <a:alpha val="0"/>
                    </a:srgbClr>
                  </a:gs>
                  <a:gs pos="100000">
                    <a:srgbClr val="036E99">
                      <a:alpha val="63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7027692" y="946778"/>
            <a:ext cx="280580" cy="280580"/>
          </a:xfrm>
          <a:custGeom>
            <a:avLst/>
            <a:gdLst/>
            <a:ahLst/>
            <a:cxnLst/>
            <a:rect r="r" b="b" t="t" l="l"/>
            <a:pathLst>
              <a:path h="280580" w="280580">
                <a:moveTo>
                  <a:pt x="0" y="0"/>
                </a:moveTo>
                <a:lnTo>
                  <a:pt x="280579" y="0"/>
                </a:lnTo>
                <a:lnTo>
                  <a:pt x="280579" y="280580"/>
                </a:lnTo>
                <a:lnTo>
                  <a:pt x="0" y="2805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930566" y="3324756"/>
            <a:ext cx="6426867" cy="1606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b="true" sz="8000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Vulnerability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834113" y="4752975"/>
            <a:ext cx="8619774" cy="3025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b="true" sz="8000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Assessment Report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573875" y="861053"/>
            <a:ext cx="1263317" cy="374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3"/>
              </a:lnSpc>
              <a:spcBef>
                <a:spcPct val="0"/>
              </a:spcBef>
            </a:pPr>
            <a:r>
              <a:rPr lang="en-US" sz="1902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next slide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464055" y="9139538"/>
            <a:ext cx="1272472" cy="374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3"/>
              </a:lnSpc>
              <a:spcBef>
                <a:spcPct val="0"/>
              </a:spcBef>
            </a:pPr>
            <a:r>
              <a:rPr lang="en-US" sz="1902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page 01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886423" y="1733550"/>
            <a:ext cx="6819900" cy="681990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47675" cap="sq">
              <a:gradFill>
                <a:gsLst>
                  <a:gs pos="0">
                    <a:srgbClr val="036E99">
                      <a:alpha val="63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628120" y="1579561"/>
            <a:ext cx="5810587" cy="1506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0581"/>
              </a:lnSpc>
              <a:spcBef>
                <a:spcPct val="0"/>
              </a:spcBef>
            </a:pPr>
            <a:r>
              <a:rPr lang="en-US" sz="7557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Introduction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464055" y="9139538"/>
            <a:ext cx="1053767" cy="374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3"/>
              </a:lnSpc>
              <a:spcBef>
                <a:spcPct val="0"/>
              </a:spcBef>
            </a:pPr>
            <a:r>
              <a:rPr lang="en-US" sz="1902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page 02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7027692" y="946778"/>
            <a:ext cx="280580" cy="280580"/>
          </a:xfrm>
          <a:custGeom>
            <a:avLst/>
            <a:gdLst/>
            <a:ahLst/>
            <a:cxnLst/>
            <a:rect r="r" b="b" t="t" l="l"/>
            <a:pathLst>
              <a:path h="280580" w="280580">
                <a:moveTo>
                  <a:pt x="0" y="0"/>
                </a:moveTo>
                <a:lnTo>
                  <a:pt x="280579" y="0"/>
                </a:lnTo>
                <a:lnTo>
                  <a:pt x="280579" y="280580"/>
                </a:lnTo>
                <a:lnTo>
                  <a:pt x="0" y="2805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5573875" y="861053"/>
            <a:ext cx="1263317" cy="374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3"/>
              </a:lnSpc>
              <a:spcBef>
                <a:spcPct val="0"/>
              </a:spcBef>
            </a:pPr>
            <a:r>
              <a:rPr lang="en-US" sz="1902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next slide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179507" y="4088144"/>
            <a:ext cx="10800859" cy="1885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90"/>
              </a:lnSpc>
            </a:pPr>
            <a:r>
              <a:rPr lang="en-US" sz="2635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OWASP Juice Shop is an intentionally vulnerable web application</a:t>
            </a:r>
          </a:p>
          <a:p>
            <a:pPr algn="just">
              <a:lnSpc>
                <a:spcPts val="3690"/>
              </a:lnSpc>
            </a:pPr>
            <a:r>
              <a:rPr lang="en-US" sz="2635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 developed by the OWASP Foundation for security training purposes</a:t>
            </a:r>
          </a:p>
          <a:p>
            <a:pPr algn="just">
              <a:lnSpc>
                <a:spcPts val="3690"/>
              </a:lnSpc>
            </a:pPr>
            <a:r>
              <a:rPr lang="en-US" sz="2635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. It simulates real-world web application vulnerabilities and helps in</a:t>
            </a:r>
          </a:p>
          <a:p>
            <a:pPr algn="just">
              <a:lnSpc>
                <a:spcPts val="3690"/>
              </a:lnSpc>
              <a:spcBef>
                <a:spcPct val="0"/>
              </a:spcBef>
            </a:pPr>
            <a:r>
              <a:rPr lang="en-US" sz="2635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 understanding common security risks and their exploitation.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397315" y="1575773"/>
            <a:ext cx="6819900" cy="681990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47675" cap="sq">
              <a:gradFill>
                <a:gsLst>
                  <a:gs pos="0">
                    <a:srgbClr val="036E99">
                      <a:alpha val="63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6371992" y="1820216"/>
            <a:ext cx="915354" cy="715640"/>
          </a:xfrm>
          <a:custGeom>
            <a:avLst/>
            <a:gdLst/>
            <a:ahLst/>
            <a:cxnLst/>
            <a:rect r="r" b="b" t="t" l="l"/>
            <a:pathLst>
              <a:path h="715640" w="915354">
                <a:moveTo>
                  <a:pt x="0" y="0"/>
                </a:moveTo>
                <a:lnTo>
                  <a:pt x="915354" y="0"/>
                </a:lnTo>
                <a:lnTo>
                  <a:pt x="915354" y="715640"/>
                </a:lnTo>
                <a:lnTo>
                  <a:pt x="0" y="7156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8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027692" y="946778"/>
            <a:ext cx="280580" cy="280580"/>
          </a:xfrm>
          <a:custGeom>
            <a:avLst/>
            <a:gdLst/>
            <a:ahLst/>
            <a:cxnLst/>
            <a:rect r="r" b="b" t="t" l="l"/>
            <a:pathLst>
              <a:path h="280580" w="280580">
                <a:moveTo>
                  <a:pt x="0" y="0"/>
                </a:moveTo>
                <a:lnTo>
                  <a:pt x="280579" y="0"/>
                </a:lnTo>
                <a:lnTo>
                  <a:pt x="280579" y="280580"/>
                </a:lnTo>
                <a:lnTo>
                  <a:pt x="0" y="28058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-182295" y="2678928"/>
            <a:ext cx="4389860" cy="4389860"/>
            <a:chOff x="0" y="0"/>
            <a:chExt cx="14840029" cy="1484002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-33258" y="-75"/>
              <a:ext cx="14906544" cy="14840178"/>
            </a:xfrm>
            <a:custGeom>
              <a:avLst/>
              <a:gdLst/>
              <a:ahLst/>
              <a:cxnLst/>
              <a:rect r="r" b="b" t="t" l="l"/>
              <a:pathLst>
                <a:path h="14840178" w="14906544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36E99">
                    <a:alpha val="100000"/>
                  </a:srgbClr>
                </a:gs>
                <a:gs pos="100000">
                  <a:srgbClr val="0078A8">
                    <a:alpha val="0"/>
                  </a:srgbClr>
                </a:gs>
              </a:gsLst>
              <a:lin ang="0"/>
            </a:gra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68022" y="200309"/>
              <a:ext cx="14503985" cy="14439411"/>
            </a:xfrm>
            <a:custGeom>
              <a:avLst/>
              <a:gdLst/>
              <a:ahLst/>
              <a:cxnLst/>
              <a:rect r="r" b="b" t="t" l="l"/>
              <a:pathLst>
                <a:path h="14439411" w="14503985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531276" y="561946"/>
              <a:ext cx="13777477" cy="13716137"/>
            </a:xfrm>
            <a:custGeom>
              <a:avLst/>
              <a:gdLst/>
              <a:ahLst/>
              <a:cxnLst/>
              <a:rect r="r" b="b" t="t" l="l"/>
              <a:pathLst>
                <a:path h="13716137" w="1377747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7"/>
              <a:stretch>
                <a:fillRect l="223" t="-24931" r="223" b="-24931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7104229" y="2459853"/>
            <a:ext cx="5520631" cy="944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19"/>
              </a:lnSpc>
              <a:spcBef>
                <a:spcPct val="0"/>
              </a:spcBef>
            </a:pPr>
            <a:r>
              <a:rPr lang="en-US" sz="48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Objective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464055" y="9139538"/>
            <a:ext cx="1053767" cy="374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3"/>
              </a:lnSpc>
              <a:spcBef>
                <a:spcPct val="0"/>
              </a:spcBef>
            </a:pPr>
            <a:r>
              <a:rPr lang="en-US" sz="1902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page 03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573875" y="861053"/>
            <a:ext cx="1263317" cy="374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3"/>
              </a:lnSpc>
              <a:spcBef>
                <a:spcPct val="0"/>
              </a:spcBef>
            </a:pPr>
            <a:r>
              <a:rPr lang="en-US" sz="1902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next slide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294646" y="4703294"/>
            <a:ext cx="11747156" cy="1566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4063" indent="-307032" lvl="1">
              <a:lnSpc>
                <a:spcPts val="3981"/>
              </a:lnSpc>
              <a:buFont typeface="Arial"/>
              <a:buChar char="•"/>
            </a:pPr>
            <a:r>
              <a:rPr lang="en-US" sz="2844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            To identify vulnerabilities in the Juice Shop application</a:t>
            </a:r>
          </a:p>
          <a:p>
            <a:pPr algn="l" marL="614063" indent="-307032" lvl="1">
              <a:lnSpc>
                <a:spcPts val="3981"/>
              </a:lnSpc>
              <a:buFont typeface="Arial"/>
              <a:buChar char="•"/>
            </a:pPr>
            <a:r>
              <a:rPr lang="en-US" sz="2844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            To analyze security risks</a:t>
            </a:r>
          </a:p>
          <a:p>
            <a:pPr algn="l" marL="614063" indent="-307032" lvl="1">
              <a:lnSpc>
                <a:spcPts val="3981"/>
              </a:lnSpc>
              <a:buFont typeface="Arial"/>
              <a:buChar char="•"/>
            </a:pPr>
            <a:r>
              <a:rPr lang="en-US" sz="2844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            To suggest mitigation strategies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851521" y="2105719"/>
            <a:ext cx="915354" cy="715640"/>
          </a:xfrm>
          <a:custGeom>
            <a:avLst/>
            <a:gdLst/>
            <a:ahLst/>
            <a:cxnLst/>
            <a:rect r="r" b="b" t="t" l="l"/>
            <a:pathLst>
              <a:path h="715640" w="915354">
                <a:moveTo>
                  <a:pt x="0" y="0"/>
                </a:moveTo>
                <a:lnTo>
                  <a:pt x="915354" y="0"/>
                </a:lnTo>
                <a:lnTo>
                  <a:pt x="915354" y="715641"/>
                </a:lnTo>
                <a:lnTo>
                  <a:pt x="0" y="7156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8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027692" y="946778"/>
            <a:ext cx="280580" cy="280580"/>
          </a:xfrm>
          <a:custGeom>
            <a:avLst/>
            <a:gdLst/>
            <a:ahLst/>
            <a:cxnLst/>
            <a:rect r="r" b="b" t="t" l="l"/>
            <a:pathLst>
              <a:path h="280580" w="280580">
                <a:moveTo>
                  <a:pt x="0" y="0"/>
                </a:moveTo>
                <a:lnTo>
                  <a:pt x="280579" y="0"/>
                </a:lnTo>
                <a:lnTo>
                  <a:pt x="280579" y="280580"/>
                </a:lnTo>
                <a:lnTo>
                  <a:pt x="0" y="28058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851521" y="5788200"/>
            <a:ext cx="731589" cy="731589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33350" cap="sq">
              <a:gradFill>
                <a:gsLst>
                  <a:gs pos="0">
                    <a:srgbClr val="B4EAFF">
                      <a:alpha val="63000"/>
                    </a:srgbClr>
                  </a:gs>
                  <a:gs pos="100000">
                    <a:srgbClr val="0078A8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851521" y="6884689"/>
            <a:ext cx="731589" cy="731589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33350" cap="sq">
              <a:gradFill>
                <a:gsLst>
                  <a:gs pos="0">
                    <a:srgbClr val="B4EAFF">
                      <a:alpha val="63000"/>
                    </a:srgbClr>
                  </a:gs>
                  <a:gs pos="100000">
                    <a:srgbClr val="0078A8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238398" y="5865514"/>
            <a:ext cx="731589" cy="731589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33350" cap="sq">
              <a:gradFill>
                <a:gsLst>
                  <a:gs pos="0">
                    <a:srgbClr val="B4EAFF">
                      <a:alpha val="63000"/>
                    </a:srgbClr>
                  </a:gs>
                  <a:gs pos="100000">
                    <a:srgbClr val="0078A8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238398" y="6962002"/>
            <a:ext cx="731589" cy="731589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33350" cap="sq">
              <a:gradFill>
                <a:gsLst>
                  <a:gs pos="0">
                    <a:srgbClr val="B4EAFF">
                      <a:alpha val="63000"/>
                    </a:srgbClr>
                  </a:gs>
                  <a:gs pos="100000">
                    <a:srgbClr val="0078A8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>
            <a:grpSpLocks noChangeAspect="true"/>
          </p:cNvGrpSpPr>
          <p:nvPr/>
        </p:nvGrpSpPr>
        <p:grpSpPr>
          <a:xfrm rot="0">
            <a:off x="10896683" y="2004113"/>
            <a:ext cx="3180823" cy="6293805"/>
            <a:chOff x="0" y="0"/>
            <a:chExt cx="2620010" cy="51841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7"/>
              <a:stretch>
                <a:fillRect l="-112628" t="0" r="-112628" b="0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grpSp>
        <p:nvGrpSpPr>
          <p:cNvPr name="Group 27" id="27"/>
          <p:cNvGrpSpPr>
            <a:grpSpLocks noChangeAspect="true"/>
          </p:cNvGrpSpPr>
          <p:nvPr/>
        </p:nvGrpSpPr>
        <p:grpSpPr>
          <a:xfrm rot="0">
            <a:off x="14555474" y="2887082"/>
            <a:ext cx="2435464" cy="4818984"/>
            <a:chOff x="0" y="0"/>
            <a:chExt cx="2620010" cy="51841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8"/>
              <a:stretch>
                <a:fillRect l="-22189" t="0" r="-22189" b="0"/>
              </a:stretch>
            </a:blip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9772733" y="1205547"/>
            <a:ext cx="2515986" cy="2515986"/>
            <a:chOff x="0" y="0"/>
            <a:chExt cx="812800" cy="812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57225" cap="sq">
              <a:gradFill>
                <a:gsLst>
                  <a:gs pos="0">
                    <a:srgbClr val="B4EAFF">
                      <a:alpha val="63000"/>
                    </a:srgbClr>
                  </a:gs>
                  <a:gs pos="100000">
                    <a:srgbClr val="0078A8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16464055" y="9139538"/>
            <a:ext cx="1053767" cy="374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3"/>
              </a:lnSpc>
              <a:spcBef>
                <a:spcPct val="0"/>
              </a:spcBef>
            </a:pPr>
            <a:r>
              <a:rPr lang="en-US" sz="1902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page 04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5573875" y="861053"/>
            <a:ext cx="1263317" cy="374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3"/>
              </a:lnSpc>
              <a:spcBef>
                <a:spcPct val="0"/>
              </a:spcBef>
            </a:pPr>
            <a:r>
              <a:rPr lang="en-US" sz="1902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next slide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2973953" y="5798839"/>
            <a:ext cx="2538792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28"/>
              </a:lnSpc>
            </a:pPr>
            <a:r>
              <a:rPr lang="en-US" sz="219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WebBrowser (Chrome/Edge)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2973953" y="6895327"/>
            <a:ext cx="1936063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28"/>
              </a:lnSpc>
            </a:pPr>
            <a:r>
              <a:rPr lang="en-US" sz="219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Burp Suite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7360831" y="5876152"/>
            <a:ext cx="2411902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28"/>
              </a:lnSpc>
            </a:pPr>
            <a:r>
              <a:rPr lang="en-US" sz="219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OWASP ZAP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7360831" y="6972641"/>
            <a:ext cx="2411902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8"/>
              </a:lnSpc>
            </a:pPr>
            <a:r>
              <a:rPr lang="en-US" sz="219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Developer Tools (Inspect Element)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851521" y="2991346"/>
            <a:ext cx="4386877" cy="1504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0500"/>
              </a:lnSpc>
              <a:spcBef>
                <a:spcPct val="0"/>
              </a:spcBef>
            </a:pPr>
            <a:r>
              <a:rPr lang="en-US" b="true" sz="7500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Tools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851521" y="4006470"/>
            <a:ext cx="4982904" cy="1504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0500"/>
              </a:lnSpc>
              <a:spcBef>
                <a:spcPct val="0"/>
              </a:spcBef>
            </a:pPr>
            <a:r>
              <a:rPr lang="en-US" b="true" sz="7500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Used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027692" y="946778"/>
            <a:ext cx="280580" cy="280580"/>
          </a:xfrm>
          <a:custGeom>
            <a:avLst/>
            <a:gdLst/>
            <a:ahLst/>
            <a:cxnLst/>
            <a:rect r="r" b="b" t="t" l="l"/>
            <a:pathLst>
              <a:path h="280580" w="280580">
                <a:moveTo>
                  <a:pt x="0" y="0"/>
                </a:moveTo>
                <a:lnTo>
                  <a:pt x="280579" y="0"/>
                </a:lnTo>
                <a:lnTo>
                  <a:pt x="280579" y="280580"/>
                </a:lnTo>
                <a:lnTo>
                  <a:pt x="0" y="2805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598831" y="1487129"/>
            <a:ext cx="915354" cy="715640"/>
          </a:xfrm>
          <a:custGeom>
            <a:avLst/>
            <a:gdLst/>
            <a:ahLst/>
            <a:cxnLst/>
            <a:rect r="r" b="b" t="t" l="l"/>
            <a:pathLst>
              <a:path h="715640" w="915354">
                <a:moveTo>
                  <a:pt x="0" y="0"/>
                </a:moveTo>
                <a:lnTo>
                  <a:pt x="915354" y="0"/>
                </a:lnTo>
                <a:lnTo>
                  <a:pt x="915354" y="715640"/>
                </a:lnTo>
                <a:lnTo>
                  <a:pt x="0" y="7156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8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523527" y="4266625"/>
            <a:ext cx="4497756" cy="3657107"/>
            <a:chOff x="0" y="0"/>
            <a:chExt cx="1184594" cy="96318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84594" cy="963189"/>
            </a:xfrm>
            <a:custGeom>
              <a:avLst/>
              <a:gdLst/>
              <a:ahLst/>
              <a:cxnLst/>
              <a:rect r="r" b="b" t="t" l="l"/>
              <a:pathLst>
                <a:path h="963189" w="1184594">
                  <a:moveTo>
                    <a:pt x="82622" y="0"/>
                  </a:moveTo>
                  <a:lnTo>
                    <a:pt x="1101972" y="0"/>
                  </a:lnTo>
                  <a:cubicBezTo>
                    <a:pt x="1123885" y="0"/>
                    <a:pt x="1144900" y="8705"/>
                    <a:pt x="1160395" y="24199"/>
                  </a:cubicBezTo>
                  <a:cubicBezTo>
                    <a:pt x="1175889" y="39694"/>
                    <a:pt x="1184594" y="60709"/>
                    <a:pt x="1184594" y="82622"/>
                  </a:cubicBezTo>
                  <a:lnTo>
                    <a:pt x="1184594" y="880567"/>
                  </a:lnTo>
                  <a:cubicBezTo>
                    <a:pt x="1184594" y="902480"/>
                    <a:pt x="1175889" y="923495"/>
                    <a:pt x="1160395" y="938989"/>
                  </a:cubicBezTo>
                  <a:cubicBezTo>
                    <a:pt x="1144900" y="954484"/>
                    <a:pt x="1123885" y="963189"/>
                    <a:pt x="1101972" y="963189"/>
                  </a:cubicBezTo>
                  <a:lnTo>
                    <a:pt x="82622" y="963189"/>
                  </a:lnTo>
                  <a:cubicBezTo>
                    <a:pt x="36991" y="963189"/>
                    <a:pt x="0" y="926198"/>
                    <a:pt x="0" y="880567"/>
                  </a:cubicBezTo>
                  <a:lnTo>
                    <a:pt x="0" y="82622"/>
                  </a:lnTo>
                  <a:cubicBezTo>
                    <a:pt x="0" y="60709"/>
                    <a:pt x="8705" y="39694"/>
                    <a:pt x="24199" y="24199"/>
                  </a:cubicBezTo>
                  <a:cubicBezTo>
                    <a:pt x="39694" y="8705"/>
                    <a:pt x="60709" y="0"/>
                    <a:pt x="82622" y="0"/>
                  </a:cubicBezTo>
                  <a:close/>
                </a:path>
              </a:pathLst>
            </a:custGeom>
            <a:ln w="104775" cap="rnd">
              <a:gradFill>
                <a:gsLst>
                  <a:gs pos="0">
                    <a:srgbClr val="B4EAFF">
                      <a:alpha val="100000"/>
                    </a:srgbClr>
                  </a:gs>
                  <a:gs pos="100000">
                    <a:srgbClr val="0078A8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1184594" cy="10489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3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6464055" y="9139538"/>
            <a:ext cx="1053767" cy="374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3"/>
              </a:lnSpc>
              <a:spcBef>
                <a:spcPct val="0"/>
              </a:spcBef>
            </a:pPr>
            <a:r>
              <a:rPr lang="en-US" sz="1902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page 05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573875" y="861053"/>
            <a:ext cx="1263317" cy="374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3"/>
              </a:lnSpc>
              <a:spcBef>
                <a:spcPct val="0"/>
              </a:spcBef>
            </a:pPr>
            <a:r>
              <a:rPr lang="en-US" sz="1902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next slide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598831" y="2386972"/>
            <a:ext cx="5164081" cy="1124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840"/>
              </a:lnSpc>
              <a:spcBef>
                <a:spcPct val="0"/>
              </a:spcBef>
            </a:pPr>
            <a:r>
              <a:rPr lang="en-US" sz="56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Identified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568774" y="2348872"/>
            <a:ext cx="6363098" cy="1285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959"/>
              </a:lnSpc>
              <a:spcBef>
                <a:spcPct val="0"/>
              </a:spcBef>
            </a:pPr>
            <a:r>
              <a:rPr lang="en-US" b="true" sz="6399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Vulnerabilities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068389" y="4894432"/>
            <a:ext cx="3408032" cy="439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SQL Injection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65937" y="5552911"/>
            <a:ext cx="4825785" cy="1393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18"/>
              </a:lnSpc>
            </a:pPr>
            <a:r>
              <a:rPr lang="en-US" sz="1941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SQL Injection allows attackers to manipulate database queries.</a:t>
            </a:r>
          </a:p>
          <a:p>
            <a:pPr algn="just">
              <a:lnSpc>
                <a:spcPts val="2718"/>
              </a:lnSpc>
            </a:pPr>
            <a:r>
              <a:rPr lang="en-US" sz="1941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Example:</a:t>
            </a:r>
          </a:p>
          <a:p>
            <a:pPr algn="just">
              <a:lnSpc>
                <a:spcPts val="2718"/>
              </a:lnSpc>
              <a:spcBef>
                <a:spcPct val="0"/>
              </a:spcBef>
            </a:pPr>
            <a:r>
              <a:rPr lang="en-US" sz="1941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Login bypass using ' OR 1=1 --.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803186" y="4266625"/>
            <a:ext cx="4497756" cy="3657107"/>
            <a:chOff x="0" y="0"/>
            <a:chExt cx="1184594" cy="96318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84594" cy="963189"/>
            </a:xfrm>
            <a:custGeom>
              <a:avLst/>
              <a:gdLst/>
              <a:ahLst/>
              <a:cxnLst/>
              <a:rect r="r" b="b" t="t" l="l"/>
              <a:pathLst>
                <a:path h="963189" w="1184594">
                  <a:moveTo>
                    <a:pt x="82622" y="0"/>
                  </a:moveTo>
                  <a:lnTo>
                    <a:pt x="1101972" y="0"/>
                  </a:lnTo>
                  <a:cubicBezTo>
                    <a:pt x="1123885" y="0"/>
                    <a:pt x="1144900" y="8705"/>
                    <a:pt x="1160395" y="24199"/>
                  </a:cubicBezTo>
                  <a:cubicBezTo>
                    <a:pt x="1175889" y="39694"/>
                    <a:pt x="1184594" y="60709"/>
                    <a:pt x="1184594" y="82622"/>
                  </a:cubicBezTo>
                  <a:lnTo>
                    <a:pt x="1184594" y="880567"/>
                  </a:lnTo>
                  <a:cubicBezTo>
                    <a:pt x="1184594" y="902480"/>
                    <a:pt x="1175889" y="923495"/>
                    <a:pt x="1160395" y="938989"/>
                  </a:cubicBezTo>
                  <a:cubicBezTo>
                    <a:pt x="1144900" y="954484"/>
                    <a:pt x="1123885" y="963189"/>
                    <a:pt x="1101972" y="963189"/>
                  </a:cubicBezTo>
                  <a:lnTo>
                    <a:pt x="82622" y="963189"/>
                  </a:lnTo>
                  <a:cubicBezTo>
                    <a:pt x="36991" y="963189"/>
                    <a:pt x="0" y="926198"/>
                    <a:pt x="0" y="880567"/>
                  </a:cubicBezTo>
                  <a:lnTo>
                    <a:pt x="0" y="82622"/>
                  </a:lnTo>
                  <a:cubicBezTo>
                    <a:pt x="0" y="60709"/>
                    <a:pt x="8705" y="39694"/>
                    <a:pt x="24199" y="24199"/>
                  </a:cubicBezTo>
                  <a:cubicBezTo>
                    <a:pt x="39694" y="8705"/>
                    <a:pt x="60709" y="0"/>
                    <a:pt x="82622" y="0"/>
                  </a:cubicBezTo>
                  <a:close/>
                </a:path>
              </a:pathLst>
            </a:custGeom>
            <a:ln w="104775" cap="rnd">
              <a:gradFill>
                <a:gsLst>
                  <a:gs pos="0">
                    <a:srgbClr val="B4EAFF">
                      <a:alpha val="100000"/>
                    </a:srgbClr>
                  </a:gs>
                  <a:gs pos="100000">
                    <a:srgbClr val="0078A8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85725"/>
              <a:ext cx="1184594" cy="10489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3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7348048" y="4894432"/>
            <a:ext cx="3408032" cy="829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Cross-SiteScripting(XSS)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180872" y="5964492"/>
            <a:ext cx="4398020" cy="1297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Injection of malicious scripts into web pages.</a:t>
            </a:r>
          </a:p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Session hijacking</a:t>
            </a:r>
          </a:p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Cookie theft.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2082845" y="4266625"/>
            <a:ext cx="4497756" cy="3657107"/>
            <a:chOff x="0" y="0"/>
            <a:chExt cx="1184594" cy="96318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84594" cy="963189"/>
            </a:xfrm>
            <a:custGeom>
              <a:avLst/>
              <a:gdLst/>
              <a:ahLst/>
              <a:cxnLst/>
              <a:rect r="r" b="b" t="t" l="l"/>
              <a:pathLst>
                <a:path h="963189" w="1184594">
                  <a:moveTo>
                    <a:pt x="82622" y="0"/>
                  </a:moveTo>
                  <a:lnTo>
                    <a:pt x="1101972" y="0"/>
                  </a:lnTo>
                  <a:cubicBezTo>
                    <a:pt x="1123885" y="0"/>
                    <a:pt x="1144900" y="8705"/>
                    <a:pt x="1160395" y="24199"/>
                  </a:cubicBezTo>
                  <a:cubicBezTo>
                    <a:pt x="1175889" y="39694"/>
                    <a:pt x="1184594" y="60709"/>
                    <a:pt x="1184594" y="82622"/>
                  </a:cubicBezTo>
                  <a:lnTo>
                    <a:pt x="1184594" y="880567"/>
                  </a:lnTo>
                  <a:cubicBezTo>
                    <a:pt x="1184594" y="902480"/>
                    <a:pt x="1175889" y="923495"/>
                    <a:pt x="1160395" y="938989"/>
                  </a:cubicBezTo>
                  <a:cubicBezTo>
                    <a:pt x="1144900" y="954484"/>
                    <a:pt x="1123885" y="963189"/>
                    <a:pt x="1101972" y="963189"/>
                  </a:cubicBezTo>
                  <a:lnTo>
                    <a:pt x="82622" y="963189"/>
                  </a:lnTo>
                  <a:cubicBezTo>
                    <a:pt x="36991" y="963189"/>
                    <a:pt x="0" y="926198"/>
                    <a:pt x="0" y="880567"/>
                  </a:cubicBezTo>
                  <a:lnTo>
                    <a:pt x="0" y="82622"/>
                  </a:lnTo>
                  <a:cubicBezTo>
                    <a:pt x="0" y="60709"/>
                    <a:pt x="8705" y="39694"/>
                    <a:pt x="24199" y="24199"/>
                  </a:cubicBezTo>
                  <a:cubicBezTo>
                    <a:pt x="39694" y="8705"/>
                    <a:pt x="60709" y="0"/>
                    <a:pt x="82622" y="0"/>
                  </a:cubicBezTo>
                  <a:close/>
                </a:path>
              </a:pathLst>
            </a:custGeom>
            <a:ln w="104775" cap="rnd">
              <a:gradFill>
                <a:gsLst>
                  <a:gs pos="0">
                    <a:srgbClr val="B4EAFF">
                      <a:alpha val="100000"/>
                    </a:srgbClr>
                  </a:gs>
                  <a:gs pos="100000">
                    <a:srgbClr val="0078A8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85725"/>
              <a:ext cx="1184594" cy="10489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3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2627707" y="4894432"/>
            <a:ext cx="4230844" cy="439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Broken Authentication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627707" y="5552911"/>
            <a:ext cx="5060667" cy="1103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50"/>
              </a:lnSpc>
            </a:pPr>
            <a:r>
              <a:rPr lang="en-US" sz="2036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Weak authentication mechanisms allow brute-force attacks.</a:t>
            </a:r>
          </a:p>
          <a:p>
            <a:pPr algn="just">
              <a:lnSpc>
                <a:spcPts val="2850"/>
              </a:lnSpc>
              <a:spcBef>
                <a:spcPct val="0"/>
              </a:spcBef>
            </a:pPr>
            <a:r>
              <a:rPr lang="en-US" sz="2036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Account takeover.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822222"/>
            <a:ext cx="494827" cy="412956"/>
          </a:xfrm>
          <a:custGeom>
            <a:avLst/>
            <a:gdLst/>
            <a:ahLst/>
            <a:cxnLst/>
            <a:rect r="r" b="b" t="t" l="l"/>
            <a:pathLst>
              <a:path h="412956" w="494827">
                <a:moveTo>
                  <a:pt x="0" y="0"/>
                </a:moveTo>
                <a:lnTo>
                  <a:pt x="494827" y="0"/>
                </a:lnTo>
                <a:lnTo>
                  <a:pt x="494827" y="412956"/>
                </a:lnTo>
                <a:lnTo>
                  <a:pt x="0" y="4129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027692" y="946778"/>
            <a:ext cx="280580" cy="280580"/>
          </a:xfrm>
          <a:custGeom>
            <a:avLst/>
            <a:gdLst/>
            <a:ahLst/>
            <a:cxnLst/>
            <a:rect r="r" b="b" t="t" l="l"/>
            <a:pathLst>
              <a:path h="280580" w="280580">
                <a:moveTo>
                  <a:pt x="0" y="0"/>
                </a:moveTo>
                <a:lnTo>
                  <a:pt x="280579" y="0"/>
                </a:lnTo>
                <a:lnTo>
                  <a:pt x="280579" y="280580"/>
                </a:lnTo>
                <a:lnTo>
                  <a:pt x="0" y="28058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755800" y="2169165"/>
            <a:ext cx="915354" cy="715640"/>
          </a:xfrm>
          <a:custGeom>
            <a:avLst/>
            <a:gdLst/>
            <a:ahLst/>
            <a:cxnLst/>
            <a:rect r="r" b="b" t="t" l="l"/>
            <a:pathLst>
              <a:path h="715640" w="915354">
                <a:moveTo>
                  <a:pt x="0" y="0"/>
                </a:moveTo>
                <a:lnTo>
                  <a:pt x="915354" y="0"/>
                </a:lnTo>
                <a:lnTo>
                  <a:pt x="915354" y="715640"/>
                </a:lnTo>
                <a:lnTo>
                  <a:pt x="0" y="71564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18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544175" y="3345233"/>
            <a:ext cx="5640577" cy="3148468"/>
          </a:xfrm>
          <a:custGeom>
            <a:avLst/>
            <a:gdLst/>
            <a:ahLst/>
            <a:cxnLst/>
            <a:rect r="r" b="b" t="t" l="l"/>
            <a:pathLst>
              <a:path h="3148468" w="5640577">
                <a:moveTo>
                  <a:pt x="0" y="0"/>
                </a:moveTo>
                <a:lnTo>
                  <a:pt x="5640577" y="0"/>
                </a:lnTo>
                <a:lnTo>
                  <a:pt x="5640577" y="3148468"/>
                </a:lnTo>
                <a:lnTo>
                  <a:pt x="0" y="314846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02293" y="5088286"/>
            <a:ext cx="4561635" cy="2546222"/>
          </a:xfrm>
          <a:custGeom>
            <a:avLst/>
            <a:gdLst/>
            <a:ahLst/>
            <a:cxnLst/>
            <a:rect r="r" b="b" t="t" l="l"/>
            <a:pathLst>
              <a:path h="2546222" w="4561635">
                <a:moveTo>
                  <a:pt x="0" y="0"/>
                </a:moveTo>
                <a:lnTo>
                  <a:pt x="4561635" y="0"/>
                </a:lnTo>
                <a:lnTo>
                  <a:pt x="4561635" y="2546221"/>
                </a:lnTo>
                <a:lnTo>
                  <a:pt x="0" y="254622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73300" y="3843676"/>
            <a:ext cx="2203513" cy="2203513"/>
          </a:xfrm>
          <a:custGeom>
            <a:avLst/>
            <a:gdLst/>
            <a:ahLst/>
            <a:cxnLst/>
            <a:rect r="r" b="b" t="t" l="l"/>
            <a:pathLst>
              <a:path h="2203513" w="2203513">
                <a:moveTo>
                  <a:pt x="0" y="0"/>
                </a:moveTo>
                <a:lnTo>
                  <a:pt x="2203513" y="0"/>
                </a:lnTo>
                <a:lnTo>
                  <a:pt x="2203513" y="2203513"/>
                </a:lnTo>
                <a:lnTo>
                  <a:pt x="0" y="220351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715374" y="861053"/>
            <a:ext cx="1735473" cy="374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3"/>
              </a:lnSpc>
              <a:spcBef>
                <a:spcPct val="0"/>
              </a:spcBef>
            </a:pPr>
            <a:r>
              <a:rPr lang="en-US" sz="1902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Liceria &amp; Co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9172575"/>
            <a:ext cx="4901866" cy="374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3"/>
              </a:lnSpc>
              <a:spcBef>
                <a:spcPct val="0"/>
              </a:spcBef>
            </a:pPr>
            <a:r>
              <a:rPr lang="en-US" sz="1902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www.reallygreatsite.com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464055" y="9139538"/>
            <a:ext cx="1053767" cy="374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3"/>
              </a:lnSpc>
              <a:spcBef>
                <a:spcPct val="0"/>
              </a:spcBef>
            </a:pPr>
            <a:r>
              <a:rPr lang="en-US" sz="1902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page 11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804483" y="9185445"/>
            <a:ext cx="1625267" cy="328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3"/>
              </a:lnSpc>
              <a:spcBef>
                <a:spcPct val="0"/>
              </a:spcBef>
            </a:pPr>
            <a:r>
              <a:rPr lang="en-US" sz="1702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presented by: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363075" y="9175920"/>
            <a:ext cx="2215817" cy="370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3"/>
              </a:lnSpc>
              <a:spcBef>
                <a:spcPct val="0"/>
              </a:spcBef>
            </a:pPr>
            <a:r>
              <a:rPr lang="en-US" b="true" sz="1902">
                <a:solidFill>
                  <a:srgbClr val="B0E1F5"/>
                </a:solidFill>
                <a:latin typeface="Agrandir Bold"/>
                <a:ea typeface="Agrandir Bold"/>
                <a:cs typeface="Agrandir Bold"/>
                <a:sym typeface="Agrandir Bold"/>
              </a:rPr>
              <a:t>OLIVIA WILSON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573875" y="861053"/>
            <a:ext cx="1263317" cy="374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3"/>
              </a:lnSpc>
              <a:spcBef>
                <a:spcPct val="0"/>
              </a:spcBef>
            </a:pPr>
            <a:r>
              <a:rPr lang="en-US" sz="1902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next slide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755800" y="2983283"/>
            <a:ext cx="5629660" cy="1504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0500"/>
              </a:lnSpc>
              <a:spcBef>
                <a:spcPct val="0"/>
              </a:spcBef>
            </a:pPr>
            <a:r>
              <a:rPr lang="en-US" b="true" sz="7500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Conclusion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255772" y="5376026"/>
            <a:ext cx="4613491" cy="439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9"/>
              </a:lnSpc>
              <a:spcBef>
                <a:spcPct val="0"/>
              </a:spcBef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6213477" y="5125727"/>
            <a:ext cx="10400748" cy="1175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60"/>
              </a:lnSpc>
              <a:spcBef>
                <a:spcPct val="0"/>
              </a:spcBef>
            </a:pPr>
            <a:r>
              <a:rPr lang="en-US" sz="3114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The OWASP Juice Shop application is intentionally designed with multiple critical vulnerabilities</a:t>
            </a:r>
          </a:p>
        </p:txBody>
      </p:sp>
      <p:sp>
        <p:nvSpPr>
          <p:cNvPr name="Freeform 18" id="18"/>
          <p:cNvSpPr/>
          <p:nvPr/>
        </p:nvSpPr>
        <p:spPr>
          <a:xfrm flipH="true" flipV="false" rot="0">
            <a:off x="0" y="5648116"/>
            <a:ext cx="4561635" cy="2546222"/>
          </a:xfrm>
          <a:custGeom>
            <a:avLst/>
            <a:gdLst/>
            <a:ahLst/>
            <a:cxnLst/>
            <a:rect r="r" b="b" t="t" l="l"/>
            <a:pathLst>
              <a:path h="2546222" w="4561635">
                <a:moveTo>
                  <a:pt x="4561635" y="0"/>
                </a:moveTo>
                <a:lnTo>
                  <a:pt x="0" y="0"/>
                </a:lnTo>
                <a:lnTo>
                  <a:pt x="0" y="2546221"/>
                </a:lnTo>
                <a:lnTo>
                  <a:pt x="4561635" y="2546221"/>
                </a:lnTo>
                <a:lnTo>
                  <a:pt x="4561635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027692" y="946778"/>
            <a:ext cx="280580" cy="280580"/>
          </a:xfrm>
          <a:custGeom>
            <a:avLst/>
            <a:gdLst/>
            <a:ahLst/>
            <a:cxnLst/>
            <a:rect r="r" b="b" t="t" l="l"/>
            <a:pathLst>
              <a:path h="280580" w="280580">
                <a:moveTo>
                  <a:pt x="0" y="0"/>
                </a:moveTo>
                <a:lnTo>
                  <a:pt x="280579" y="0"/>
                </a:lnTo>
                <a:lnTo>
                  <a:pt x="280579" y="280580"/>
                </a:lnTo>
                <a:lnTo>
                  <a:pt x="0" y="2805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6464055" y="9139538"/>
            <a:ext cx="1053767" cy="374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3"/>
              </a:lnSpc>
              <a:spcBef>
                <a:spcPct val="0"/>
              </a:spcBef>
            </a:pPr>
            <a:r>
              <a:rPr lang="en-US" sz="1902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page 12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573875" y="861053"/>
            <a:ext cx="1263317" cy="374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3"/>
              </a:lnSpc>
              <a:spcBef>
                <a:spcPct val="0"/>
              </a:spcBef>
            </a:pPr>
            <a:r>
              <a:rPr lang="en-US" sz="1902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next slide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898854" y="2089942"/>
            <a:ext cx="915354" cy="715640"/>
          </a:xfrm>
          <a:custGeom>
            <a:avLst/>
            <a:gdLst/>
            <a:ahLst/>
            <a:cxnLst/>
            <a:rect r="r" b="b" t="t" l="l"/>
            <a:pathLst>
              <a:path h="715640" w="915354">
                <a:moveTo>
                  <a:pt x="0" y="0"/>
                </a:moveTo>
                <a:lnTo>
                  <a:pt x="915354" y="0"/>
                </a:lnTo>
                <a:lnTo>
                  <a:pt x="915354" y="715640"/>
                </a:lnTo>
                <a:lnTo>
                  <a:pt x="0" y="7156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8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98854" y="2975569"/>
            <a:ext cx="6075089" cy="1504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0500"/>
              </a:lnSpc>
              <a:spcBef>
                <a:spcPct val="0"/>
              </a:spcBef>
            </a:pPr>
            <a:r>
              <a:rPr lang="en-US" sz="75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References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246881" y="2907740"/>
            <a:ext cx="7720733" cy="2587903"/>
            <a:chOff x="0" y="0"/>
            <a:chExt cx="1196144" cy="40093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96144" cy="400934"/>
            </a:xfrm>
            <a:custGeom>
              <a:avLst/>
              <a:gdLst/>
              <a:ahLst/>
              <a:cxnLst/>
              <a:rect r="r" b="b" t="t" l="l"/>
              <a:pathLst>
                <a:path h="400934" w="1196144">
                  <a:moveTo>
                    <a:pt x="23063" y="0"/>
                  </a:moveTo>
                  <a:lnTo>
                    <a:pt x="1173080" y="0"/>
                  </a:lnTo>
                  <a:cubicBezTo>
                    <a:pt x="1179197" y="0"/>
                    <a:pt x="1185063" y="2430"/>
                    <a:pt x="1189389" y="6755"/>
                  </a:cubicBezTo>
                  <a:cubicBezTo>
                    <a:pt x="1193714" y="11080"/>
                    <a:pt x="1196144" y="16946"/>
                    <a:pt x="1196144" y="23063"/>
                  </a:cubicBezTo>
                  <a:lnTo>
                    <a:pt x="1196144" y="377871"/>
                  </a:lnTo>
                  <a:cubicBezTo>
                    <a:pt x="1196144" y="390608"/>
                    <a:pt x="1185818" y="400934"/>
                    <a:pt x="1173080" y="400934"/>
                  </a:cubicBezTo>
                  <a:lnTo>
                    <a:pt x="23063" y="400934"/>
                  </a:lnTo>
                  <a:cubicBezTo>
                    <a:pt x="16946" y="400934"/>
                    <a:pt x="11080" y="398504"/>
                    <a:pt x="6755" y="394179"/>
                  </a:cubicBezTo>
                  <a:cubicBezTo>
                    <a:pt x="2430" y="389854"/>
                    <a:pt x="0" y="383987"/>
                    <a:pt x="0" y="377871"/>
                  </a:cubicBezTo>
                  <a:lnTo>
                    <a:pt x="0" y="23063"/>
                  </a:lnTo>
                  <a:cubicBezTo>
                    <a:pt x="0" y="10326"/>
                    <a:pt x="10326" y="0"/>
                    <a:pt x="23063" y="0"/>
                  </a:cubicBezTo>
                  <a:close/>
                </a:path>
              </a:pathLst>
            </a:custGeom>
            <a:blipFill>
              <a:blip r:embed="rId7"/>
              <a:stretch>
                <a:fillRect l="0" t="-49536" r="0" b="-49536"/>
              </a:stretch>
            </a:blipFill>
            <a:ln w="76200" cap="rnd">
              <a:gradFill>
                <a:gsLst>
                  <a:gs pos="0">
                    <a:srgbClr val="B4EAFF">
                      <a:alpha val="100000"/>
                    </a:srgbClr>
                  </a:gs>
                  <a:gs pos="100000">
                    <a:srgbClr val="0078A8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1898854" y="5808751"/>
            <a:ext cx="10987323" cy="972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7378" indent="-278689" lvl="1">
              <a:lnSpc>
                <a:spcPts val="3614"/>
              </a:lnSpc>
              <a:buFont typeface="Arial"/>
              <a:buChar char="•"/>
            </a:pPr>
            <a:r>
              <a:rPr lang="en-US" sz="2581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OWASP Juice Shop Documentation</a:t>
            </a:r>
          </a:p>
          <a:p>
            <a:pPr algn="l" marL="557378" indent="-278689" lvl="1">
              <a:lnSpc>
                <a:spcPts val="3614"/>
              </a:lnSpc>
              <a:buFont typeface="Arial"/>
              <a:buChar char="•"/>
            </a:pPr>
            <a:r>
              <a:rPr lang="en-US" sz="2581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OWASP Top 10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4651996" y="1964533"/>
            <a:ext cx="2515986" cy="2515986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57225" cap="sq">
              <a:gradFill>
                <a:gsLst>
                  <a:gs pos="0">
                    <a:srgbClr val="B4EAFF">
                      <a:alpha val="63000"/>
                    </a:srgbClr>
                  </a:gs>
                  <a:gs pos="100000">
                    <a:srgbClr val="0078A8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008267" y="3362325"/>
            <a:ext cx="5657850" cy="565785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33450" cap="sq">
              <a:gradFill>
                <a:gsLst>
                  <a:gs pos="0">
                    <a:srgbClr val="0078A8">
                      <a:alpha val="0"/>
                    </a:srgbClr>
                  </a:gs>
                  <a:gs pos="100000">
                    <a:srgbClr val="036E99">
                      <a:alpha val="63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true" flipV="false" rot="0">
            <a:off x="17027692" y="946778"/>
            <a:ext cx="280580" cy="280580"/>
          </a:xfrm>
          <a:custGeom>
            <a:avLst/>
            <a:gdLst/>
            <a:ahLst/>
            <a:cxnLst/>
            <a:rect r="r" b="b" t="t" l="l"/>
            <a:pathLst>
              <a:path h="280580" w="280580">
                <a:moveTo>
                  <a:pt x="280579" y="0"/>
                </a:moveTo>
                <a:lnTo>
                  <a:pt x="0" y="0"/>
                </a:lnTo>
                <a:lnTo>
                  <a:pt x="0" y="280580"/>
                </a:lnTo>
                <a:lnTo>
                  <a:pt x="280579" y="280580"/>
                </a:lnTo>
                <a:lnTo>
                  <a:pt x="28057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583110" y="3068708"/>
            <a:ext cx="751113" cy="587234"/>
          </a:xfrm>
          <a:custGeom>
            <a:avLst/>
            <a:gdLst/>
            <a:ahLst/>
            <a:cxnLst/>
            <a:rect r="r" b="b" t="t" l="l"/>
            <a:pathLst>
              <a:path h="587234" w="751113">
                <a:moveTo>
                  <a:pt x="0" y="0"/>
                </a:moveTo>
                <a:lnTo>
                  <a:pt x="751113" y="0"/>
                </a:lnTo>
                <a:lnTo>
                  <a:pt x="751113" y="587234"/>
                </a:lnTo>
                <a:lnTo>
                  <a:pt x="0" y="58723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8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583110" y="3530459"/>
            <a:ext cx="6426867" cy="2356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6574"/>
              </a:lnSpc>
              <a:spcBef>
                <a:spcPct val="0"/>
              </a:spcBef>
            </a:pPr>
            <a:r>
              <a:rPr lang="en-US" sz="11838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Thank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954101" y="3530459"/>
            <a:ext cx="3516883" cy="2356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6574"/>
              </a:lnSpc>
              <a:spcBef>
                <a:spcPct val="0"/>
              </a:spcBef>
            </a:pPr>
            <a:r>
              <a:rPr lang="en-US" b="true" sz="11838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You.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464055" y="9139538"/>
            <a:ext cx="1053767" cy="374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3"/>
              </a:lnSpc>
              <a:spcBef>
                <a:spcPct val="0"/>
              </a:spcBef>
            </a:pPr>
            <a:r>
              <a:rPr lang="en-US" sz="1902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page 13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832396" y="861053"/>
            <a:ext cx="1263317" cy="374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3"/>
              </a:lnSpc>
              <a:spcBef>
                <a:spcPct val="0"/>
              </a:spcBef>
            </a:pPr>
            <a:r>
              <a:rPr lang="en-US" sz="1902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end slide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DAHHNX537rk</dc:identifier>
  <dcterms:modified xsi:type="dcterms:W3CDTF">2011-08-01T06:04:30Z</dcterms:modified>
  <cp:revision>1</cp:revision>
  <dc:title>Vulnerability</dc:title>
</cp:coreProperties>
</file>